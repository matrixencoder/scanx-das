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01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6187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1033272"/>
            <a:ext cx="5892073" cy="389534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" y="5733288"/>
            <a:ext cx="5892071" cy="7955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31152" y="793817"/>
            <a:ext cx="5260848" cy="6064181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38587" y="207982"/>
            <a:ext cx="2662798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1560963-1EEA-4BDE-8FF9-3FEE13B5D43C}" type="datetime1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2C2C7B-6B47-4A5B-B24C-B316964ABE62}"/>
              </a:ext>
            </a:extLst>
          </p:cNvPr>
          <p:cNvCxnSpPr>
            <a:cxnSpLocks/>
          </p:cNvCxnSpPr>
          <p:nvPr/>
        </p:nvCxnSpPr>
        <p:spPr>
          <a:xfrm flipV="1">
            <a:off x="6929823" y="789558"/>
            <a:ext cx="0" cy="606844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32355F-80FD-3956-F8D4-9DF4073D0E2E}"/>
              </a:ext>
            </a:extLst>
          </p:cNvPr>
          <p:cNvCxnSpPr>
            <a:cxnSpLocks/>
          </p:cNvCxnSpPr>
          <p:nvPr/>
        </p:nvCxnSpPr>
        <p:spPr>
          <a:xfrm>
            <a:off x="0" y="5420250"/>
            <a:ext cx="692982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4DD8B2-0D73-EB9B-9708-67DF28E40F96}"/>
              </a:ext>
            </a:extLst>
          </p:cNvPr>
          <p:cNvCxnSpPr>
            <a:cxnSpLocks/>
          </p:cNvCxnSpPr>
          <p:nvPr/>
        </p:nvCxnSpPr>
        <p:spPr>
          <a:xfrm>
            <a:off x="0" y="791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8827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12648"/>
            <a:ext cx="11253668" cy="1106424"/>
          </a:xfrm>
        </p:spPr>
        <p:txBody>
          <a:bodyPr/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9" y="2139696"/>
            <a:ext cx="11253668" cy="42885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D457B6E-DC25-9A54-64F7-98703149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49DF708-DA4E-D117-5CE8-7401A836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1AE2728-8254-BE0F-89AB-2D5352D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3DFD8D-B66E-C844-B523-E3C51265F5EA}"/>
              </a:ext>
            </a:extLst>
          </p:cNvPr>
          <p:cNvCxnSpPr>
            <a:cxnSpLocks/>
          </p:cNvCxnSpPr>
          <p:nvPr/>
        </p:nvCxnSpPr>
        <p:spPr>
          <a:xfrm>
            <a:off x="0" y="1805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370220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223554"/>
            <a:ext cx="11430000" cy="914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6083090"/>
            <a:ext cx="11429999" cy="5669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50694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F288AF9F-2338-4040-A485-373B8EC8151E}" type="datetime1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BE8472-319C-7663-7B71-2A6549DED7EF}"/>
              </a:ext>
            </a:extLst>
          </p:cNvPr>
          <p:cNvCxnSpPr>
            <a:cxnSpLocks/>
          </p:cNvCxnSpPr>
          <p:nvPr/>
        </p:nvCxnSpPr>
        <p:spPr>
          <a:xfrm>
            <a:off x="0" y="5068350"/>
            <a:ext cx="12188952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80864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58952"/>
            <a:ext cx="7589520" cy="408736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5404104"/>
            <a:ext cx="11515277" cy="5760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54496"/>
            <a:ext cx="296369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1742" y="6254496"/>
            <a:ext cx="167964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1359139-99F8-4B6E-8834-95F2B9D91EE4}" type="datetime1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54496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5C310B-ED34-BA33-630C-F8D5EB2A41A2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B77E3C-9D50-9277-C646-D9B5AB8122BB}"/>
              </a:ext>
            </a:extLst>
          </p:cNvPr>
          <p:cNvCxnSpPr>
            <a:cxnSpLocks/>
          </p:cNvCxnSpPr>
          <p:nvPr/>
        </p:nvCxnSpPr>
        <p:spPr>
          <a:xfrm>
            <a:off x="0" y="527477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71214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rgbClr val="C835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" y="1435608"/>
            <a:ext cx="11594592" cy="5559552"/>
          </a:xfrm>
        </p:spPr>
        <p:txBody>
          <a:bodyPr anchor="b">
            <a:normAutofit/>
          </a:bodyPr>
          <a:lstStyle>
            <a:lvl1pPr>
              <a:lnSpc>
                <a:spcPct val="67000"/>
              </a:lnSpc>
              <a:defRPr sz="1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1006E0F-42A5-451E-8A36-26756F7C34E0}" type="datetime1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716D65-B11C-E9B7-66BF-88E72C5DCEBA}"/>
              </a:ext>
            </a:extLst>
          </p:cNvPr>
          <p:cNvCxnSpPr>
            <a:cxnSpLocks/>
          </p:cNvCxnSpPr>
          <p:nvPr/>
        </p:nvCxnSpPr>
        <p:spPr>
          <a:xfrm>
            <a:off x="0" y="783822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18113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7" y="886968"/>
            <a:ext cx="11405277" cy="1170432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599C6D-D164-AA94-72F8-241C1871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881" y="2832652"/>
            <a:ext cx="6893719" cy="3508951"/>
          </a:xfrm>
        </p:spPr>
        <p:txBody>
          <a:bodyPr anchor="t"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B50CAA-07B2-F8CA-1425-4249CE17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EAD866-E26E-BF23-7B5D-9F689B2F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AC7CAE-FC19-2728-AA3B-1D2FE7879B25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1B3592-91FB-05F4-B422-A40D7CD4DE2D}"/>
              </a:ext>
            </a:extLst>
          </p:cNvPr>
          <p:cNvCxnSpPr>
            <a:cxnSpLocks/>
          </p:cNvCxnSpPr>
          <p:nvPr/>
        </p:nvCxnSpPr>
        <p:spPr>
          <a:xfrm>
            <a:off x="0" y="800100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0758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6944" y="521208"/>
            <a:ext cx="6647688" cy="1865376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D3A4126-4E48-DD2C-1468-6A36AE6C1D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7320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6943" y="2651760"/>
            <a:ext cx="6327648" cy="3547872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1899" y="210312"/>
            <a:ext cx="2962656" cy="41148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73511" y="210312"/>
            <a:ext cx="1679642" cy="411480"/>
          </a:xfrm>
        </p:spPr>
        <p:txBody>
          <a:bodyPr/>
          <a:lstStyle/>
          <a:p>
            <a:fld id="{F288AF9F-2338-4040-A485-373B8EC8151E}" type="datetime1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633BE4-C9B9-310C-1EAE-191B5D344B59}"/>
              </a:ext>
            </a:extLst>
          </p:cNvPr>
          <p:cNvCxnSpPr>
            <a:cxnSpLocks/>
          </p:cNvCxnSpPr>
          <p:nvPr/>
        </p:nvCxnSpPr>
        <p:spPr>
          <a:xfrm>
            <a:off x="4923916" y="2452449"/>
            <a:ext cx="7268084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010762-96A4-4E1C-CD5D-EE1C1D1FC6E2}"/>
              </a:ext>
            </a:extLst>
          </p:cNvPr>
          <p:cNvCxnSpPr>
            <a:cxnSpLocks/>
          </p:cNvCxnSpPr>
          <p:nvPr/>
        </p:nvCxnSpPr>
        <p:spPr>
          <a:xfrm flipV="1">
            <a:off x="4923916" y="0"/>
            <a:ext cx="0" cy="685800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56404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1" y="2077374"/>
            <a:ext cx="4479107" cy="269141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7DEB5EF-910B-9B2B-CB95-1AD374FE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577" y="2210542"/>
            <a:ext cx="5869293" cy="2432477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D4BD0F-0EF0-D5B9-5485-1ECB765DC5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1577" y="207982"/>
            <a:ext cx="1921315" cy="413360"/>
          </a:xfrm>
        </p:spPr>
        <p:txBody>
          <a:bodyPr/>
          <a:lstStyle/>
          <a:p>
            <a:fld id="{44BE14B8-5058-4271-B378-2217DE83796E}" type="datetime1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566B317-2D55-4797-E621-551FCA48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5311938" y="1550633"/>
            <a:ext cx="0" cy="375673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90D5D6-313A-8ACD-591F-F8BEC510B947}"/>
              </a:ext>
            </a:extLst>
          </p:cNvPr>
          <p:cNvCxnSpPr>
            <a:cxnSpLocks/>
          </p:cNvCxnSpPr>
          <p:nvPr/>
        </p:nvCxnSpPr>
        <p:spPr>
          <a:xfrm>
            <a:off x="0" y="5308844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6F1415-3933-6D89-472D-2FA4BBB279E7}"/>
              </a:ext>
            </a:extLst>
          </p:cNvPr>
          <p:cNvCxnSpPr>
            <a:cxnSpLocks/>
          </p:cNvCxnSpPr>
          <p:nvPr/>
        </p:nvCxnSpPr>
        <p:spPr>
          <a:xfrm>
            <a:off x="0" y="155063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101193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" y="1249959"/>
            <a:ext cx="4085912" cy="51256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B8121-E925-2131-A76A-FBDAB0BC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249959"/>
            <a:ext cx="6440424" cy="52387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A5BEFD-7245-BB4D-0F86-F1C3A32E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63852" y="207982"/>
            <a:ext cx="1921315" cy="413360"/>
          </a:xfrm>
        </p:spPr>
        <p:txBody>
          <a:bodyPr/>
          <a:lstStyle/>
          <a:p>
            <a:fld id="{F288AF9F-2338-4040-A485-373B8EC8151E}" type="datetime1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5879897-4AF6-4B38-AB30-8DD979DC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4918746" y="805343"/>
            <a:ext cx="0" cy="605265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607139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0876" y="749808"/>
            <a:ext cx="6442024" cy="2039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0328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0875" y="213482"/>
            <a:ext cx="2962656" cy="41148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09227" y="210312"/>
            <a:ext cx="1679642" cy="411480"/>
          </a:xfrm>
        </p:spPr>
        <p:txBody>
          <a:bodyPr/>
          <a:lstStyle/>
          <a:p>
            <a:fld id="{F288AF9F-2338-4040-A485-373B8EC8151E}" type="datetime1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875" y="2944368"/>
            <a:ext cx="6442025" cy="3571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10328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842955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0308" y="612648"/>
            <a:ext cx="7022592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342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D81791C-036D-058C-0055-96793694D6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750307" y="210312"/>
            <a:ext cx="3531437" cy="4133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8DE5B-9C41-DE5B-BF91-98510120DC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582299" y="210312"/>
            <a:ext cx="1679642" cy="413360"/>
          </a:xfrm>
        </p:spPr>
        <p:txBody>
          <a:bodyPr/>
          <a:lstStyle/>
          <a:p>
            <a:fld id="{F288AF9F-2338-4040-A485-373B8EC8151E}" type="datetime1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E0FD979-F905-C567-8E21-A3EDCE1798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307" y="1746503"/>
            <a:ext cx="7022592" cy="4806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34576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765323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612648"/>
            <a:ext cx="7015483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B59EF2B-7C7F-BA27-16C2-C56B21D377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A99D216-CE5A-6458-A23E-BE0E554AC3D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224951" y="207982"/>
            <a:ext cx="1682496" cy="413360"/>
          </a:xfrm>
        </p:spPr>
        <p:txBody>
          <a:bodyPr/>
          <a:lstStyle/>
          <a:p>
            <a:fld id="{F288AF9F-2338-4040-A485-373B8EC8151E}" type="datetime1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220FA64-3C9A-EBCF-5C28-E7DED40C97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789594" y="207982"/>
            <a:ext cx="546447" cy="413360"/>
          </a:xfrm>
        </p:spPr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746504"/>
            <a:ext cx="7018271" cy="48066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73592" y="0"/>
            <a:ext cx="4417215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776883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596311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3" y="749808"/>
            <a:ext cx="5778227" cy="10332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9163" y="210312"/>
            <a:ext cx="1679642" cy="411480"/>
          </a:xfrm>
        </p:spPr>
        <p:txBody>
          <a:bodyPr/>
          <a:lstStyle/>
          <a:p>
            <a:fld id="{F288AF9F-2338-4040-A485-373B8EC8151E}" type="datetime1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14093" y="210312"/>
            <a:ext cx="546447" cy="413360"/>
          </a:xfrm>
        </p:spPr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993391"/>
            <a:ext cx="5778227" cy="45598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75416" y="0"/>
            <a:ext cx="5616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4034EB-F498-D527-195A-D17B85027774}"/>
              </a:ext>
            </a:extLst>
          </p:cNvPr>
          <p:cNvCxnSpPr>
            <a:cxnSpLocks/>
          </p:cNvCxnSpPr>
          <p:nvPr/>
        </p:nvCxnSpPr>
        <p:spPr>
          <a:xfrm>
            <a:off x="6570629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304331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749808"/>
            <a:ext cx="4123680" cy="151790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210312"/>
            <a:ext cx="2260057" cy="41148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9329" y="210312"/>
            <a:ext cx="1058111" cy="411480"/>
          </a:xfrm>
        </p:spPr>
        <p:txBody>
          <a:bodyPr/>
          <a:lstStyle/>
          <a:p>
            <a:fld id="{F288AF9F-2338-4040-A485-373B8EC8151E}" type="datetime1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0197" y="210312"/>
            <a:ext cx="440969" cy="413360"/>
          </a:xfrm>
        </p:spPr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04" y="2578609"/>
            <a:ext cx="4130606" cy="3712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12658" y="0"/>
            <a:ext cx="7279341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0796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977615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49808"/>
            <a:ext cx="11514755" cy="9601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890DBE-0DD3-8504-F95F-4225535FB1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BB28A-95D9-4CE6-DA59-520BA3C61CD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1FA0A0C-CE55-CB7D-174D-D77937630A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2180556"/>
            <a:ext cx="5012355" cy="42842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22674" y="1834524"/>
            <a:ext cx="6378722" cy="50234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753443-12E2-4CD3-2C6F-4E20536BA82B}"/>
              </a:ext>
            </a:extLst>
          </p:cNvPr>
          <p:cNvCxnSpPr>
            <a:cxnSpLocks/>
          </p:cNvCxnSpPr>
          <p:nvPr/>
        </p:nvCxnSpPr>
        <p:spPr>
          <a:xfrm>
            <a:off x="5816454" y="1827254"/>
            <a:ext cx="0" cy="504063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B4AF9B-8CF3-D7A8-CDB9-8E513FFF57EC}"/>
              </a:ext>
            </a:extLst>
          </p:cNvPr>
          <p:cNvCxnSpPr>
            <a:cxnSpLocks/>
          </p:cNvCxnSpPr>
          <p:nvPr/>
        </p:nvCxnSpPr>
        <p:spPr>
          <a:xfrm>
            <a:off x="0" y="1827254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749980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5166364"/>
            <a:ext cx="3656530" cy="12234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8096" cy="48371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121" y="5166364"/>
            <a:ext cx="7073776" cy="122342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437376"/>
            <a:ext cx="2962656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99121" y="6437193"/>
            <a:ext cx="4549413" cy="365125"/>
          </a:xfrm>
        </p:spPr>
        <p:txBody>
          <a:bodyPr/>
          <a:lstStyle/>
          <a:p>
            <a:fld id="{F288AF9F-2338-4040-A485-373B8EC8151E}" type="datetime1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437376"/>
            <a:ext cx="546447" cy="413360"/>
          </a:xfrm>
        </p:spPr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F9F6E2-159F-CDF3-F2D3-AB7A7E505C0B}"/>
              </a:ext>
            </a:extLst>
          </p:cNvPr>
          <p:cNvCxnSpPr>
            <a:cxnSpLocks/>
          </p:cNvCxnSpPr>
          <p:nvPr/>
        </p:nvCxnSpPr>
        <p:spPr>
          <a:xfrm>
            <a:off x="4283425" y="4837176"/>
            <a:ext cx="0" cy="202082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4F9120-94C1-CA43-BF4E-9411F4866A20}"/>
              </a:ext>
            </a:extLst>
          </p:cNvPr>
          <p:cNvCxnSpPr>
            <a:cxnSpLocks/>
          </p:cNvCxnSpPr>
          <p:nvPr/>
        </p:nvCxnSpPr>
        <p:spPr>
          <a:xfrm>
            <a:off x="-1250" y="4842106"/>
            <a:ext cx="1219325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9340436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62002"/>
            <a:ext cx="6612786" cy="155589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2AC736-2858-40E1-3533-38692573EC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F901C69-26AA-7830-9BFF-EC62E8208A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83EC4C7-2AFC-9797-0F80-FCBABD2A85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6627" y="2435966"/>
            <a:ext cx="7283725" cy="4422032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068" y="762000"/>
            <a:ext cx="4092813" cy="579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0" y="2435966"/>
            <a:ext cx="72771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38DF4A-7DDF-7C24-D39A-EA7EAF7CFE63}"/>
              </a:ext>
            </a:extLst>
          </p:cNvPr>
          <p:cNvCxnSpPr>
            <a:cxnSpLocks/>
          </p:cNvCxnSpPr>
          <p:nvPr/>
        </p:nvCxnSpPr>
        <p:spPr>
          <a:xfrm>
            <a:off x="7277100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9887800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448056"/>
            <a:ext cx="11514759" cy="112471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F288AF9F-2338-4040-A485-373B8EC8151E}" type="datetime1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07982"/>
            <a:ext cx="546447" cy="411480"/>
          </a:xfrm>
        </p:spPr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3614" y="1700784"/>
            <a:ext cx="3318170" cy="515721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1441" y="2130553"/>
            <a:ext cx="7971459" cy="4422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347961-3E7C-FAAC-2283-DA751A80201C}"/>
              </a:ext>
            </a:extLst>
          </p:cNvPr>
          <p:cNvCxnSpPr>
            <a:cxnSpLocks/>
          </p:cNvCxnSpPr>
          <p:nvPr/>
        </p:nvCxnSpPr>
        <p:spPr>
          <a:xfrm>
            <a:off x="0" y="1695518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4B3C03-E31F-77F7-02F0-8C25E1C62792}"/>
              </a:ext>
            </a:extLst>
          </p:cNvPr>
          <p:cNvCxnSpPr>
            <a:cxnSpLocks/>
          </p:cNvCxnSpPr>
          <p:nvPr/>
        </p:nvCxnSpPr>
        <p:spPr>
          <a:xfrm>
            <a:off x="3318170" y="1695518"/>
            <a:ext cx="0" cy="516248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7316738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1232" y="1188720"/>
            <a:ext cx="4069080" cy="4480560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8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8056" y="1609344"/>
            <a:ext cx="6775704" cy="415137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lang="en-US" sz="33400" dirty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288AF9F-2338-4040-A485-373B8EC8151E}" type="datetime1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4144DB-F44E-C5EB-68A1-D39E3F401C4E}"/>
              </a:ext>
            </a:extLst>
          </p:cNvPr>
          <p:cNvCxnSpPr>
            <a:cxnSpLocks/>
          </p:cNvCxnSpPr>
          <p:nvPr/>
        </p:nvCxnSpPr>
        <p:spPr>
          <a:xfrm>
            <a:off x="0" y="6069441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98561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7773" y="914400"/>
            <a:ext cx="10045427" cy="4464554"/>
          </a:xfrm>
        </p:spPr>
        <p:txBody>
          <a:bodyPr anchor="ctr">
            <a:noAutofit/>
          </a:bodyPr>
          <a:lstStyle>
            <a:lvl1pPr marL="0" indent="0">
              <a:lnSpc>
                <a:spcPct val="75000"/>
              </a:lnSpc>
              <a:buNone/>
              <a:defRPr sz="8800" b="0">
                <a:solidFill>
                  <a:schemeClr val="tx2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8000" b="0">
                <a:solidFill>
                  <a:schemeClr val="tx2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7200" b="0">
                <a:solidFill>
                  <a:schemeClr val="tx2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6600" b="0">
                <a:solidFill>
                  <a:schemeClr val="tx2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60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63640"/>
            <a:ext cx="2963692" cy="4133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0069" y="6263640"/>
            <a:ext cx="1921315" cy="413360"/>
          </a:xfrm>
        </p:spPr>
        <p:txBody>
          <a:bodyPr/>
          <a:lstStyle/>
          <a:p>
            <a:fld id="{93332489-DC9C-40A3-89C4-AFC56B3B0CAB}" type="datetime1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935D4C-A027-60A0-BEB8-B1A89C1C5E3A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71412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3232" y="5440220"/>
            <a:ext cx="9299448" cy="1015996"/>
          </a:xfrm>
        </p:spPr>
        <p:txBody>
          <a:bodyPr anchor="ctr">
            <a:normAutofit/>
          </a:bodyPr>
          <a:lstStyle>
            <a:lvl1pPr>
              <a:defRPr sz="20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0040" y="1170816"/>
            <a:ext cx="9692640" cy="3872159"/>
          </a:xfrm>
        </p:spPr>
        <p:txBody>
          <a:bodyPr>
            <a:normAutofit/>
          </a:bodyPr>
          <a:lstStyle>
            <a:lvl1pPr marL="274320" indent="-274320">
              <a:lnSpc>
                <a:spcPct val="70000"/>
              </a:lnSpc>
              <a:buNone/>
              <a:defRPr sz="8800" cap="all" baseline="0">
                <a:solidFill>
                  <a:schemeClr val="tx2"/>
                </a:solidFill>
                <a:latin typeface="+mj-lt"/>
              </a:defRPr>
            </a:lvl1pPr>
            <a:lvl2pPr marL="274320" indent="-274320">
              <a:lnSpc>
                <a:spcPct val="70000"/>
              </a:lnSpc>
              <a:buNone/>
              <a:defRPr sz="80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2pPr>
            <a:lvl3pPr marL="274320" indent="-274320">
              <a:lnSpc>
                <a:spcPct val="70000"/>
              </a:lnSpc>
              <a:buNone/>
              <a:defRPr sz="72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3pPr>
            <a:lvl4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4pPr>
            <a:lvl5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2443788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288AF9F-2338-4040-A485-373B8EC8151E}" type="datetime1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0C7B9-B6D9-6FB6-59EE-D9DB3BC93758}"/>
              </a:ext>
            </a:extLst>
          </p:cNvPr>
          <p:cNvCxnSpPr>
            <a:cxnSpLocks/>
          </p:cNvCxnSpPr>
          <p:nvPr/>
        </p:nvCxnSpPr>
        <p:spPr>
          <a:xfrm flipH="1">
            <a:off x="0" y="787179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5D9130-12F6-DFB8-70EF-9ACBA9FDECB0}"/>
              </a:ext>
            </a:extLst>
          </p:cNvPr>
          <p:cNvCxnSpPr>
            <a:cxnSpLocks/>
          </p:cNvCxnSpPr>
          <p:nvPr/>
        </p:nvCxnSpPr>
        <p:spPr>
          <a:xfrm>
            <a:off x="0" y="5274530"/>
            <a:ext cx="121920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31163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94AB-EF90-9591-5954-F617B83D1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85800"/>
            <a:ext cx="11253668" cy="66569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6A57BED-3AFE-6AA9-E0D5-586748D6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7C21221-DC95-273B-0C4F-43B35ADA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44E859-99AA-D46F-1AD8-4C0F287F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231F-0FFC-E2BB-36F8-9816E4DEC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7773" y="1773857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CC2C1-ED8C-D52E-BEF5-671EDC623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4987" y="1773858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97169B-5226-712F-36F4-352E56B637D4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1320913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2" y="685800"/>
            <a:ext cx="11256264" cy="6675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773" y="1773857"/>
            <a:ext cx="5349064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D3C6A-509A-8CB1-B220-1CE755BE2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7773" y="2368476"/>
            <a:ext cx="5349064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4796" y="1773857"/>
            <a:ext cx="5349240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ECFD5-92D0-1854-D18E-8BC5DF56A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4796" y="2368476"/>
            <a:ext cx="5349240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1AC07E-A077-E2A6-1718-DDDA542A8A98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5780395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17042-CDCB-3B2F-8C5B-24B17903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4C6AE-702E-258F-EA5E-02906C70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339AE3-ADB1-728F-9FBA-2FD43A0A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FCF02-D35E-46A4-B7A1-1A2B81F8D932}" type="datetime1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5F4B-E6CF-D83A-1F1B-81274FD5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397286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E52550-02A6-D7FB-DD57-70C87BAA4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2D272-B561-7F82-06FB-C5DE719A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7AF51-4D04-4E0C-B33D-81940CAB4B07}" type="datetime1">
              <a:rPr lang="en-US" smtClean="0"/>
              <a:pPr/>
              <a:t>9/8/2026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F0FF0-3A36-A128-D75E-71A4B54C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282916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A45ECA-9413-0F81-085A-48CF6F23E1DC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832104"/>
            <a:ext cx="11253668" cy="1225296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263640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1" y="6263640"/>
            <a:ext cx="1933553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288AF9F-2338-4040-A485-373B8EC8151E}" type="datetime1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7" y="3429001"/>
            <a:ext cx="11253669" cy="27735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2986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60" y="1270390"/>
            <a:ext cx="7929980" cy="2060888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5" y="3794761"/>
            <a:ext cx="7932765" cy="15310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F288AF9F-2338-4040-A485-373B8EC8151E}" type="datetime1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D168F9-DE00-B9C1-AD77-139DA8AF3364}"/>
              </a:ext>
            </a:extLst>
          </p:cNvPr>
          <p:cNvCxnSpPr>
            <a:cxnSpLocks/>
          </p:cNvCxnSpPr>
          <p:nvPr/>
        </p:nvCxnSpPr>
        <p:spPr>
          <a:xfrm>
            <a:off x="0" y="3434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64427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5388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398EFF-E3C5-E79D-1BD3-016E84949F9C}"/>
              </a:ext>
            </a:extLst>
          </p:cNvPr>
          <p:cNvCxnSpPr>
            <a:cxnSpLocks/>
          </p:cNvCxnSpPr>
          <p:nvPr/>
        </p:nvCxnSpPr>
        <p:spPr>
          <a:xfrm>
            <a:off x="0" y="789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935798"/>
            <a:ext cx="11253668" cy="665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0559" y="1707581"/>
            <a:ext cx="11253668" cy="4848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773" y="207982"/>
            <a:ext cx="2963692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80069" y="207982"/>
            <a:ext cx="1921315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fld id="{F288AF9F-2338-4040-A485-373B8EC8151E}" type="datetime1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8870" y="207982"/>
            <a:ext cx="546447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50" b="1" cap="all" baseline="0"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143C14-E680-3360-0E4D-DA502AF50E8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289F04-E99B-4567-D5B5-0C2880D70155}"/>
              </a:ext>
            </a:extLst>
          </p:cNvPr>
          <p:cNvPicPr>
            <a:picLocks noChangeAspect="1"/>
          </p:cNvPicPr>
          <p:nvPr userDrawn="1"/>
        </p:nvPicPr>
        <p:blipFill>
          <a:blip r:embed="rId30">
            <a:alphaModFix amt="5000"/>
          </a:blip>
          <a:stretch>
            <a:fillRect/>
          </a:stretch>
        </p:blipFill>
        <p:spPr>
          <a:xfrm>
            <a:off x="3237849" y="570849"/>
            <a:ext cx="5716302" cy="5716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863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2" r:id="rId23"/>
    <p:sldLayoutId id="2147483703" r:id="rId24"/>
    <p:sldLayoutId id="2147483704" r:id="rId25"/>
    <p:sldLayoutId id="2147483705" r:id="rId26"/>
    <p:sldLayoutId id="2147483706" r:id="rId27"/>
    <p:sldLayoutId id="2147483707" r:id="rId28"/>
  </p:sldLayoutIdLst>
  <p:hf sldNum="0" hdr="0" ftr="0" dt="0"/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264">
          <p15:clr>
            <a:srgbClr val="F26B43"/>
          </p15:clr>
        </p15:guide>
        <p15:guide id="3" pos="7416">
          <p15:clr>
            <a:srgbClr val="F26B43"/>
          </p15:clr>
        </p15:guide>
        <p15:guide id="4" orient="horz" pos="3816">
          <p15:clr>
            <a:srgbClr val="F26B43"/>
          </p15:clr>
        </p15:guide>
        <p15:guide id="5" pos="7200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4128">
          <p15:clr>
            <a:srgbClr val="F26B43"/>
          </p15:clr>
        </p15:guide>
        <p15:guide id="8" orient="horz" pos="1056">
          <p15:clr>
            <a:srgbClr val="F26B43"/>
          </p15:clr>
        </p15:guide>
        <p15:guide id="9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2.png"/><Relationship Id="rId5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5.png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6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0.png"/><Relationship Id="rId5" Type="http://schemas.openxmlformats.org/officeDocument/2006/relationships/image" Target="../media/image11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914400"/>
            <a:ext cx="146304" cy="146304"/>
          </a:xfrm>
          <a:prstGeom prst="ellipse">
            <a:avLst/>
          </a:prstGeom>
          <a:solidFill>
            <a:srgbClr val="E4F7F6"/>
          </a:solidFill>
          <a:ln w="12700">
            <a:solidFill>
              <a:srgbClr val="0FB5A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00" y="1463040"/>
            <a:ext cx="91440" cy="91440"/>
          </a:xfrm>
          <a:prstGeom prst="ellipse">
            <a:avLst/>
          </a:prstGeom>
          <a:solidFill>
            <a:srgbClr val="E4F7F6"/>
          </a:solidFill>
          <a:ln w="12700">
            <a:solidFill>
              <a:srgbClr val="0FB5A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2103120"/>
            <a:ext cx="73152" cy="73152"/>
          </a:xfrm>
          <a:prstGeom prst="ellipse">
            <a:avLst/>
          </a:prstGeom>
          <a:solidFill>
            <a:srgbClr val="E4F7F6"/>
          </a:solidFill>
          <a:ln w="12700">
            <a:solidFill>
              <a:srgbClr val="0FB5A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0" y="2377440"/>
            <a:ext cx="128016" cy="128016"/>
          </a:xfrm>
          <a:prstGeom prst="ellipse">
            <a:avLst/>
          </a:prstGeom>
          <a:solidFill>
            <a:srgbClr val="E4F7F6"/>
          </a:solidFill>
          <a:ln w="12700">
            <a:solidFill>
              <a:srgbClr val="0FB5A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66960" y="3017520"/>
            <a:ext cx="91440" cy="91440"/>
          </a:xfrm>
          <a:prstGeom prst="ellipse">
            <a:avLst/>
          </a:prstGeom>
          <a:solidFill>
            <a:srgbClr val="E4F7F6"/>
          </a:solidFill>
          <a:ln w="12700">
            <a:solidFill>
              <a:srgbClr val="0FB5A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81360" y="640080"/>
            <a:ext cx="64008" cy="64008"/>
          </a:xfrm>
          <a:prstGeom prst="ellipse">
            <a:avLst/>
          </a:prstGeom>
          <a:solidFill>
            <a:srgbClr val="E4F7F6"/>
          </a:solidFill>
          <a:ln w="12700">
            <a:solidFill>
              <a:srgbClr val="0FB5A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0" y="1645920"/>
            <a:ext cx="82296" cy="82296"/>
          </a:xfrm>
          <a:prstGeom prst="ellipse">
            <a:avLst/>
          </a:prstGeom>
          <a:solidFill>
            <a:srgbClr val="E4F7F6"/>
          </a:solidFill>
          <a:ln w="12700">
            <a:solidFill>
              <a:srgbClr val="0FB5A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09760" y="3749040"/>
            <a:ext cx="109728" cy="109728"/>
          </a:xfrm>
          <a:prstGeom prst="ellipse">
            <a:avLst/>
          </a:prstGeom>
          <a:solidFill>
            <a:srgbClr val="E4F7F6"/>
          </a:solidFill>
          <a:ln w="12700">
            <a:solidFill>
              <a:srgbClr val="0FB5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32720" y="4206240"/>
            <a:ext cx="73152" cy="73152"/>
          </a:xfrm>
          <a:prstGeom prst="ellipse">
            <a:avLst/>
          </a:prstGeom>
          <a:solidFill>
            <a:srgbClr val="E4F7F6"/>
          </a:solidFill>
          <a:ln w="12700">
            <a:solidFill>
              <a:srgbClr val="0FB5A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3383280"/>
            <a:ext cx="54864" cy="54864"/>
          </a:xfrm>
          <a:prstGeom prst="ellipse">
            <a:avLst/>
          </a:prstGeom>
          <a:solidFill>
            <a:srgbClr val="E4F7F6"/>
          </a:solidFill>
          <a:ln w="12700">
            <a:solidFill>
              <a:srgbClr val="0FB5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765792" y="987552"/>
            <a:ext cx="749808" cy="475488"/>
          </a:xfrm>
          <a:prstGeom prst="line">
            <a:avLst/>
          </a:prstGeom>
          <a:noFill/>
          <a:ln w="15875">
            <a:solidFill>
              <a:srgbClr val="E4F7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88752" y="1508760"/>
            <a:ext cx="384048" cy="594360"/>
          </a:xfrm>
          <a:prstGeom prst="line">
            <a:avLst/>
          </a:prstGeom>
          <a:noFill/>
          <a:ln w="15875">
            <a:solidFill>
              <a:srgbClr val="E4F7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418320" y="2139696"/>
            <a:ext cx="1554480" cy="237744"/>
          </a:xfrm>
          <a:prstGeom prst="line">
            <a:avLst/>
          </a:prstGeom>
          <a:noFill/>
          <a:ln w="15875">
            <a:solidFill>
              <a:srgbClr val="E4F7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21824" y="3054096"/>
            <a:ext cx="1133856" cy="694944"/>
          </a:xfrm>
          <a:prstGeom prst="line">
            <a:avLst/>
          </a:prstGeom>
          <a:noFill/>
          <a:ln w="15875">
            <a:solidFill>
              <a:srgbClr val="E4F7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64624" y="3803904"/>
            <a:ext cx="768096" cy="402336"/>
          </a:xfrm>
          <a:prstGeom prst="line">
            <a:avLst/>
          </a:prstGeom>
          <a:noFill/>
          <a:ln w="15875">
            <a:solidFill>
              <a:srgbClr val="E4F7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132A4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70432" y="457200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Madan Mohan Malaviya University of Technology, Gorakhpur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70432" y="808271"/>
            <a:ext cx="6035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2331720"/>
            <a:ext cx="777240" cy="777240"/>
          </a:xfrm>
          <a:prstGeom prst="ellipse">
            <a:avLst/>
          </a:prstGeom>
          <a:solidFill>
            <a:srgbClr val="132A4C"/>
          </a:solidFill>
          <a:ln/>
        </p:spPr>
      </p:sp>
      <p:pic>
        <p:nvPicPr>
          <p:cNvPr id="22" name="Image 0" descr="icons/shiel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" y="2533802"/>
            <a:ext cx="373075" cy="373075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02920" y="324612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SCAN-X</a:t>
            </a:r>
            <a:endParaRPr lang="en-US" sz="6000" dirty="0"/>
          </a:p>
        </p:txBody>
      </p:sp>
      <p:sp>
        <p:nvSpPr>
          <p:cNvPr id="24" name="Text 21"/>
          <p:cNvSpPr/>
          <p:nvPr/>
        </p:nvSpPr>
        <p:spPr>
          <a:xfrm>
            <a:off x="548640" y="42245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Pentest Reconnaissance Platform</a:t>
            </a:r>
            <a:endParaRPr lang="en-US" sz="1900" dirty="0"/>
          </a:p>
        </p:txBody>
      </p:sp>
      <p:sp>
        <p:nvSpPr>
          <p:cNvPr id="25" name="Shape 22"/>
          <p:cNvSpPr/>
          <p:nvPr/>
        </p:nvSpPr>
        <p:spPr>
          <a:xfrm>
            <a:off x="548640" y="4828032"/>
            <a:ext cx="457200" cy="41148"/>
          </a:xfrm>
          <a:prstGeom prst="rect">
            <a:avLst/>
          </a:prstGeom>
          <a:solidFill>
            <a:srgbClr val="0FB5AE"/>
          </a:solidFill>
          <a:ln/>
        </p:spPr>
      </p:sp>
      <p:sp>
        <p:nvSpPr>
          <p:cNvPr id="26" name="Text 23"/>
          <p:cNvSpPr/>
          <p:nvPr/>
        </p:nvSpPr>
        <p:spPr>
          <a:xfrm>
            <a:off x="548640" y="5029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Final Year Cybersecurity Project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548640" y="5623560"/>
            <a:ext cx="1920240" cy="566928"/>
          </a:xfrm>
          <a:prstGeom prst="roundRect">
            <a:avLst>
              <a:gd name="adj" fmla="val 16129"/>
            </a:avLst>
          </a:prstGeom>
          <a:solidFill>
            <a:srgbClr val="132A4C"/>
          </a:solidFill>
          <a:ln/>
        </p:spPr>
      </p:sp>
      <p:sp>
        <p:nvSpPr>
          <p:cNvPr id="28" name="Text 25"/>
          <p:cNvSpPr/>
          <p:nvPr/>
        </p:nvSpPr>
        <p:spPr>
          <a:xfrm>
            <a:off x="548640" y="562356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 G-60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143000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SCAN-X · MMMUT</a:t>
            </a:r>
            <a:endParaRPr lang="en-US" sz="9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A86CDC2E-7814-C3A0-4B04-4337391605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445" y="247654"/>
            <a:ext cx="942553" cy="94255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D9DAAA4-43DB-989E-4C04-5F05AE7B5E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243584"/>
            <a:ext cx="5509824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481328"/>
          </a:xfrm>
          <a:prstGeom prst="roundRect">
            <a:avLst>
              <a:gd name="adj" fmla="val 4938"/>
            </a:avLst>
          </a:prstGeom>
          <a:solidFill>
            <a:srgbClr val="FFC00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6479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B5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783080" y="178308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783080" y="2167128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fragmented recon and code review fall short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600200"/>
            <a:ext cx="5349240" cy="1481328"/>
          </a:xfrm>
          <a:prstGeom prst="roundRect">
            <a:avLst>
              <a:gd name="adj" fmla="val 4938"/>
            </a:avLst>
          </a:prstGeom>
          <a:solidFill>
            <a:srgbClr val="00B050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176479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B5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452360" y="178308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52360" y="2167128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Scan-X links recon, analysis &amp; correlation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282696"/>
            <a:ext cx="5349240" cy="1481328"/>
          </a:xfrm>
          <a:prstGeom prst="roundRect">
            <a:avLst>
              <a:gd name="adj" fmla="val 4938"/>
            </a:avLst>
          </a:prstGeom>
          <a:solidFill>
            <a:schemeClr val="accent1">
              <a:lumMod val="60000"/>
              <a:lumOff val="40000"/>
            </a:schemeClr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44728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B5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783080" y="3465576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783080" y="3849624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discovery, GitHub analyzer, correlation, attack paths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3282696"/>
            <a:ext cx="5349240" cy="1481328"/>
          </a:xfrm>
          <a:prstGeom prst="roundRect">
            <a:avLst>
              <a:gd name="adj" fmla="val 4938"/>
            </a:avLst>
          </a:prstGeom>
          <a:solidFill>
            <a:schemeClr val="accent5">
              <a:lumMod val="20000"/>
              <a:lumOff val="80000"/>
            </a:schemeClr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344728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B5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7452360" y="3465576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Workflow &amp; UI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452360" y="3849624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Modes, dashboard and reporting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965192"/>
            <a:ext cx="5349240" cy="1481328"/>
          </a:xfrm>
          <a:prstGeom prst="roundRect">
            <a:avLst>
              <a:gd name="adj" fmla="val 4938"/>
            </a:avLst>
          </a:prstGeom>
          <a:solidFill>
            <a:schemeClr val="accent5">
              <a:lumMod val="60000"/>
              <a:lumOff val="40000"/>
            </a:schemeClr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129784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B5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1783080" y="5148072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783080" y="5532120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Backend, frontend and integrations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17920" y="4965192"/>
            <a:ext cx="5349240" cy="1481328"/>
          </a:xfrm>
          <a:prstGeom prst="roundRect">
            <a:avLst>
              <a:gd name="adj" fmla="val 4938"/>
            </a:avLst>
          </a:prstGeom>
          <a:solidFill>
            <a:schemeClr val="accent5"/>
          </a:solidFill>
          <a:ln/>
        </p:spPr>
      </p:sp>
      <p:sp>
        <p:nvSpPr>
          <p:cNvPr id="25" name="Text 23"/>
          <p:cNvSpPr/>
          <p:nvPr/>
        </p:nvSpPr>
        <p:spPr>
          <a:xfrm>
            <a:off x="6446520" y="5129784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B5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7452360" y="5148072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452360" y="5532120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and what's next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43000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SCAN-X · MMMUT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SCAN-X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4319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Motivation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309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recon tools and source-code scanners run in isolation. An analyst finds a live endpoint in one tool and a hardcoded secret in another — but nothing tells them the two are connected, or how an attacker would chain them together.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456432"/>
            <a:ext cx="109728" cy="109728"/>
          </a:xfrm>
          <a:prstGeom prst="ellipse">
            <a:avLst/>
          </a:prstGeom>
          <a:solidFill>
            <a:srgbClr val="0FB5A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300984"/>
            <a:ext cx="6035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tooling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3575304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 and code-review results live in separate reports with no shared context</a:t>
            </a:r>
            <a:endParaRPr lang="en-US" sz="1200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4114800"/>
            <a:ext cx="109728" cy="109728"/>
          </a:xfrm>
          <a:prstGeom prst="ellipse">
            <a:avLst/>
          </a:prstGeom>
          <a:solidFill>
            <a:srgbClr val="0FB5AE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959352"/>
            <a:ext cx="6035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correlation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4233672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spend hours manually mapping endpoints back to source files</a:t>
            </a:r>
            <a:endParaRPr lang="en-US" sz="1200" b="1" dirty="0"/>
          </a:p>
        </p:txBody>
      </p:sp>
      <p:sp>
        <p:nvSpPr>
          <p:cNvPr id="11" name="Shape 9"/>
          <p:cNvSpPr/>
          <p:nvPr/>
        </p:nvSpPr>
        <p:spPr>
          <a:xfrm>
            <a:off x="548640" y="4773168"/>
            <a:ext cx="109728" cy="109728"/>
          </a:xfrm>
          <a:prstGeom prst="ellipse">
            <a:avLst/>
          </a:prstGeom>
          <a:solidFill>
            <a:srgbClr val="0FB5AE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617720"/>
            <a:ext cx="6035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exploit narrative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" y="489204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findings rarely show the real, chainable attack path</a:t>
            </a:r>
            <a:endParaRPr lang="en-US" sz="1200" b="1" dirty="0"/>
          </a:p>
        </p:txBody>
      </p:sp>
      <p:sp>
        <p:nvSpPr>
          <p:cNvPr id="14" name="Shape 12"/>
          <p:cNvSpPr/>
          <p:nvPr/>
        </p:nvSpPr>
        <p:spPr>
          <a:xfrm>
            <a:off x="7178040" y="1554480"/>
            <a:ext cx="4434840" cy="4434840"/>
          </a:xfrm>
          <a:prstGeom prst="roundRect">
            <a:avLst>
              <a:gd name="adj" fmla="val 2474"/>
            </a:avLst>
          </a:prstGeom>
          <a:solidFill>
            <a:srgbClr val="132A4C"/>
          </a:solidFill>
          <a:ln/>
        </p:spPr>
      </p:sp>
      <p:sp>
        <p:nvSpPr>
          <p:cNvPr id="15" name="Shape 13"/>
          <p:cNvSpPr/>
          <p:nvPr/>
        </p:nvSpPr>
        <p:spPr>
          <a:xfrm>
            <a:off x="7543800" y="1965960"/>
            <a:ext cx="685800" cy="685800"/>
          </a:xfrm>
          <a:prstGeom prst="ellipse">
            <a:avLst/>
          </a:prstGeom>
          <a:solidFill>
            <a:srgbClr val="0FB5AE"/>
          </a:solidFill>
          <a:ln/>
        </p:spPr>
      </p:sp>
      <p:pic>
        <p:nvPicPr>
          <p:cNvPr id="16" name="Image 0" descr="icons/merg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2108" y="2144268"/>
            <a:ext cx="329184" cy="32918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543800" y="278892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Scan-X Idea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7543800" y="3246120"/>
            <a:ext cx="37033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endpoint discovery, tech fingerprinting and source-code analysis, then correlate the two into ranked, exploitable attack paths — automatically.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543800" y="4937760"/>
            <a:ext cx="3703320" cy="0"/>
          </a:xfrm>
          <a:prstGeom prst="line">
            <a:avLst/>
          </a:prstGeom>
          <a:noFill/>
          <a:ln w="12700">
            <a:solidFill>
              <a:srgbClr val="2B4A7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43800" y="5074920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Recon + code. Correlated.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1143000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SCAN-X · MMMUT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FITS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5895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880360" cy="1417320"/>
          </a:xfrm>
          <a:prstGeom prst="roundRect">
            <a:avLst>
              <a:gd name="adj" fmla="val 6452"/>
            </a:avLst>
          </a:prstGeom>
          <a:solidFill>
            <a:srgbClr val="F4F7F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331720"/>
            <a:ext cx="548640" cy="548640"/>
          </a:xfrm>
          <a:prstGeom prst="ellipse">
            <a:avLst/>
          </a:prstGeom>
          <a:solidFill>
            <a:srgbClr val="132A4C"/>
          </a:solidFill>
          <a:ln/>
        </p:spPr>
      </p:sp>
      <p:pic>
        <p:nvPicPr>
          <p:cNvPr id="6" name="Image 0" descr="icons/sear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4688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9718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 Engine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323697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crawler, form/JS parsing, tech fingerprinting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794760" y="2103120"/>
            <a:ext cx="2880360" cy="1417320"/>
          </a:xfrm>
          <a:prstGeom prst="roundRect">
            <a:avLst>
              <a:gd name="adj" fmla="val 6452"/>
            </a:avLst>
          </a:prstGeom>
          <a:solidFill>
            <a:srgbClr val="F4F7FA"/>
          </a:solidFill>
          <a:ln/>
        </p:spPr>
      </p:sp>
      <p:sp>
        <p:nvSpPr>
          <p:cNvPr id="10" name="Shape 7"/>
          <p:cNvSpPr/>
          <p:nvPr/>
        </p:nvSpPr>
        <p:spPr>
          <a:xfrm>
            <a:off x="4023360" y="2331720"/>
            <a:ext cx="548640" cy="548640"/>
          </a:xfrm>
          <a:prstGeom prst="ellipse">
            <a:avLst/>
          </a:prstGeom>
          <a:solidFill>
            <a:srgbClr val="132A4C"/>
          </a:solidFill>
          <a:ln/>
        </p:spPr>
      </p:sp>
      <p:pic>
        <p:nvPicPr>
          <p:cNvPr id="11" name="Image 1" descr="icons/githu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246888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23360" y="29718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Analyzer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023360" y="323697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rules across cloned GitHub repositories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063240" y="2633472"/>
            <a:ext cx="640080" cy="320040"/>
          </a:xfrm>
          <a:prstGeom prst="rightArrow">
            <a:avLst/>
          </a:prstGeom>
          <a:solidFill>
            <a:srgbClr val="0FB5AE"/>
          </a:solidFill>
          <a:ln/>
        </p:spPr>
      </p:sp>
      <p:sp>
        <p:nvSpPr>
          <p:cNvPr id="15" name="Shape 11"/>
          <p:cNvSpPr/>
          <p:nvPr/>
        </p:nvSpPr>
        <p:spPr>
          <a:xfrm>
            <a:off x="6766560" y="2633472"/>
            <a:ext cx="640080" cy="320040"/>
          </a:xfrm>
          <a:prstGeom prst="rightArrow">
            <a:avLst/>
          </a:prstGeom>
          <a:solidFill>
            <a:srgbClr val="0FB5AE"/>
          </a:solidFill>
          <a:ln/>
        </p:spPr>
      </p:sp>
      <p:sp>
        <p:nvSpPr>
          <p:cNvPr id="16" name="Shape 12"/>
          <p:cNvSpPr/>
          <p:nvPr/>
        </p:nvSpPr>
        <p:spPr>
          <a:xfrm>
            <a:off x="7498080" y="196596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132A4C"/>
          </a:solidFill>
          <a:ln/>
        </p:spPr>
      </p:sp>
      <p:sp>
        <p:nvSpPr>
          <p:cNvPr id="17" name="Shape 13"/>
          <p:cNvSpPr/>
          <p:nvPr/>
        </p:nvSpPr>
        <p:spPr>
          <a:xfrm>
            <a:off x="7726680" y="2194560"/>
            <a:ext cx="548640" cy="548640"/>
          </a:xfrm>
          <a:prstGeom prst="ellipse">
            <a:avLst/>
          </a:prstGeom>
          <a:solidFill>
            <a:srgbClr val="0FB5AE"/>
          </a:solidFill>
          <a:ln/>
        </p:spPr>
      </p:sp>
      <p:pic>
        <p:nvPicPr>
          <p:cNvPr id="18" name="Image 2" descr="icons/merge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233172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12480" y="221284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Engine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7726680" y="28803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endpoints to source routes; confidence-scored 0-100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9098280" y="3840480"/>
            <a:ext cx="365760" cy="502920"/>
          </a:xfrm>
          <a:prstGeom prst="downArrow">
            <a:avLst/>
          </a:prstGeom>
          <a:solidFill>
            <a:srgbClr val="0FB5AE"/>
          </a:solidFill>
          <a:ln/>
        </p:spPr>
      </p:sp>
      <p:sp>
        <p:nvSpPr>
          <p:cNvPr id="22" name="Shape 17"/>
          <p:cNvSpPr/>
          <p:nvPr/>
        </p:nvSpPr>
        <p:spPr>
          <a:xfrm>
            <a:off x="548640" y="5074920"/>
            <a:ext cx="10469880" cy="960120"/>
          </a:xfrm>
          <a:prstGeom prst="roundRect">
            <a:avLst>
              <a:gd name="adj" fmla="val 9524"/>
            </a:avLst>
          </a:prstGeom>
          <a:solidFill>
            <a:srgbClr val="E4F7F6"/>
          </a:solidFill>
          <a:ln/>
        </p:spPr>
      </p:sp>
      <p:sp>
        <p:nvSpPr>
          <p:cNvPr id="23" name="Shape 18"/>
          <p:cNvSpPr/>
          <p:nvPr/>
        </p:nvSpPr>
        <p:spPr>
          <a:xfrm>
            <a:off x="777240" y="5212080"/>
            <a:ext cx="685800" cy="685800"/>
          </a:xfrm>
          <a:prstGeom prst="ellipse">
            <a:avLst/>
          </a:prstGeom>
          <a:solidFill>
            <a:srgbClr val="0FB5AE"/>
          </a:solidFill>
          <a:ln/>
        </p:spPr>
      </p:sp>
      <p:pic>
        <p:nvPicPr>
          <p:cNvPr id="24" name="Image 3" descr="icons/targe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5367528"/>
            <a:ext cx="374904" cy="37490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91640" y="519379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Path Generator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1691640" y="5504688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correlated findings into step-by-step, risk-scored exploit paths with suggested payloads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1143000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SCAN-X · MMMUT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17804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Endpoint Discovery &amp; Fingerprinting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4F7FA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856232"/>
            <a:ext cx="548640" cy="548640"/>
          </a:xfrm>
          <a:prstGeom prst="ellipse">
            <a:avLst/>
          </a:prstGeom>
          <a:solidFill>
            <a:srgbClr val="132A4C"/>
          </a:solidFill>
          <a:ln/>
        </p:spPr>
      </p:sp>
      <p:pic>
        <p:nvPicPr>
          <p:cNvPr id="6" name="Image 0" descr="icons/sear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199339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7452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Crawling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4672" y="2532888"/>
            <a:ext cx="48371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crawler with form parsing, JS endpoint extraction, and a 90+ path sensitive-route wordlist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17920" y="160020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4F7FA"/>
          </a:solidFill>
          <a:ln/>
        </p:spPr>
      </p:sp>
      <p:sp>
        <p:nvSpPr>
          <p:cNvPr id="10" name="Shape 7"/>
          <p:cNvSpPr/>
          <p:nvPr/>
        </p:nvSpPr>
        <p:spPr>
          <a:xfrm>
            <a:off x="6473952" y="1856232"/>
            <a:ext cx="548640" cy="548640"/>
          </a:xfrm>
          <a:prstGeom prst="ellipse">
            <a:avLst/>
          </a:prstGeom>
          <a:solidFill>
            <a:srgbClr val="132A4C"/>
          </a:solidFill>
          <a:ln/>
        </p:spPr>
      </p:sp>
      <p:pic>
        <p:nvPicPr>
          <p:cNvPr id="11" name="Image 1" descr="icons/sear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199339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187452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Fingerprinting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473952" y="2532888"/>
            <a:ext cx="48371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frameworks, CMS platforms, JS libraries, analytics tools and CDN providers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61188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4F7FA"/>
          </a:solidFill>
          <a:ln/>
        </p:spPr>
      </p:sp>
      <p:sp>
        <p:nvSpPr>
          <p:cNvPr id="15" name="Shape 11"/>
          <p:cNvSpPr/>
          <p:nvPr/>
        </p:nvSpPr>
        <p:spPr>
          <a:xfrm>
            <a:off x="804672" y="3867912"/>
            <a:ext cx="548640" cy="548640"/>
          </a:xfrm>
          <a:prstGeom prst="ellipse">
            <a:avLst/>
          </a:prstGeom>
          <a:solidFill>
            <a:srgbClr val="132A4C"/>
          </a:solidFill>
          <a:ln/>
        </p:spPr>
      </p:sp>
      <p:pic>
        <p:nvPicPr>
          <p:cNvPr id="16" name="Image 2" descr="icons/sear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4005072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88620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Categorized Reports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04672" y="4544568"/>
            <a:ext cx="48371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output with full endpoint inventory and per-endpoint Burp Suite test recommendations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17920" y="361188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4F7FA"/>
          </a:solidFill>
          <a:ln/>
        </p:spPr>
      </p:sp>
      <p:sp>
        <p:nvSpPr>
          <p:cNvPr id="20" name="Shape 15"/>
          <p:cNvSpPr/>
          <p:nvPr/>
        </p:nvSpPr>
        <p:spPr>
          <a:xfrm>
            <a:off x="6473952" y="3867912"/>
            <a:ext cx="548640" cy="548640"/>
          </a:xfrm>
          <a:prstGeom prst="ellipse">
            <a:avLst/>
          </a:prstGeom>
          <a:solidFill>
            <a:srgbClr val="132A4C"/>
          </a:solidFill>
          <a:ln/>
        </p:spPr>
      </p:sp>
      <p:pic>
        <p:nvPicPr>
          <p:cNvPr id="21" name="Image 3" descr="icons/sear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4005072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388620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Job Runner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473952" y="4544568"/>
            <a:ext cx="48371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Queued crawl sessions with real-time status tracking, no blocking on long scans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43000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SCAN-X · MMMUT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Repository Analyzer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static detection rules scan cloned repositories for hardcoded secrets, injection flaws, XSS, SSRF and misconfigurations — with smart filtering that skips bundled JS, binaries and build artifacts, and PAT-based support for private repos.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14600"/>
          <a:ext cx="10515600" cy="3566157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9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IDs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CATCHES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FB5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SEC-001 – SEC-024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keys, GitHub tokens, Stripe keys, JWT secrets, DB passwords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FB5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Injection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VUL-001 – VUL-005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injection, command injection, template injection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FB5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VUL-006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innerHTML, document.write, eval usage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FB5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SSRF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VUL-007 – VUL-008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Server-side request forgery patterns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FB5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Redirect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VUL-009 – VUL-011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redirect vulnerabilities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FB5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VUL-012 – VUL-020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 mode, CORS misconfiguration, insecure cookies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43000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5" name="Text 4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SCAN-X · MMMUT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17804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Engine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live endpoints back to the source files that serve them — turning two separate scans into one connected picture of the attack surface.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0FB5AE"/>
          </a:solidFill>
          <a:ln/>
        </p:spPr>
      </p:sp>
      <p:pic>
        <p:nvPicPr>
          <p:cNvPr id="6" name="Image 0" descr="icons/merg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816352"/>
            <a:ext cx="26517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269748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Matching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234440" y="297180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endpoints to source routes using framework-aware patterns for Express, Flask, Django and Next.js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0FB5AE"/>
          </a:solidFill>
          <a:ln/>
        </p:spPr>
      </p:sp>
      <p:pic>
        <p:nvPicPr>
          <p:cNvPr id="10" name="Image 1" descr="icons/merg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776472"/>
            <a:ext cx="265176" cy="2651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365760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Mapping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234440" y="393192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endpoints to repository files via URL patterns and route definitions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48640" y="4617720"/>
            <a:ext cx="502920" cy="502920"/>
          </a:xfrm>
          <a:prstGeom prst="ellipse">
            <a:avLst/>
          </a:prstGeom>
          <a:solidFill>
            <a:srgbClr val="0FB5AE"/>
          </a:solidFill>
          <a:ln/>
        </p:spPr>
      </p:sp>
      <p:pic>
        <p:nvPicPr>
          <p:cNvPr id="14" name="Image 2" descr="icons/merg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4736592"/>
            <a:ext cx="265176" cy="2651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461772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Scoring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234440" y="489204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scoring normalized to 0-100, backed by matched evidence for each link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492240" y="1554480"/>
            <a:ext cx="5120640" cy="4434840"/>
          </a:xfrm>
          <a:prstGeom prst="roundRect">
            <a:avLst>
              <a:gd name="adj" fmla="val 2474"/>
            </a:avLst>
          </a:prstGeom>
          <a:solidFill>
            <a:srgbClr val="F4F7FA"/>
          </a:solidFill>
          <a:ln/>
        </p:spPr>
      </p:sp>
      <p:sp>
        <p:nvSpPr>
          <p:cNvPr id="18" name="Text 13"/>
          <p:cNvSpPr/>
          <p:nvPr/>
        </p:nvSpPr>
        <p:spPr>
          <a:xfrm>
            <a:off x="6766560" y="1737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 →  Source File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766560" y="2194560"/>
            <a:ext cx="45262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903720" y="226771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32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/api/users/:id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6903720" y="25603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routes/users.js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10378440" y="2395728"/>
            <a:ext cx="384048" cy="384048"/>
          </a:xfrm>
          <a:prstGeom prst="ellipse">
            <a:avLst/>
          </a:prstGeom>
          <a:solidFill>
            <a:srgbClr val="E4F7F6"/>
          </a:solidFill>
          <a:ln w="12700">
            <a:solidFill>
              <a:srgbClr val="0FB5AE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10378440" y="2395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6766560" y="3063240"/>
            <a:ext cx="45262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903720" y="313639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32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/admin/login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6903720" y="34290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controllers/auth.py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10378440" y="3264408"/>
            <a:ext cx="384048" cy="384048"/>
          </a:xfrm>
          <a:prstGeom prst="ellipse">
            <a:avLst/>
          </a:prstGeom>
          <a:solidFill>
            <a:srgbClr val="E4F7F6"/>
          </a:solidFill>
          <a:ln w="12700">
            <a:solidFill>
              <a:srgbClr val="0FB5AE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10378440" y="32644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6766560" y="3931920"/>
            <a:ext cx="45262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903720" y="40050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32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/export?url=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6903720" y="42976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api/export/route.js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10378440" y="4133088"/>
            <a:ext cx="384048" cy="384048"/>
          </a:xfrm>
          <a:prstGeom prst="ellipse">
            <a:avLst/>
          </a:prstGeom>
          <a:solidFill>
            <a:srgbClr val="E4F7F6"/>
          </a:solidFill>
          <a:ln w="12700">
            <a:solidFill>
              <a:srgbClr val="0FB5AE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10378440" y="41330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6766560" y="4800600"/>
            <a:ext cx="45262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6903720" y="487375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32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/internal/health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6903720" y="51663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app/health/views.py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10378440" y="5001768"/>
            <a:ext cx="384048" cy="384048"/>
          </a:xfrm>
          <a:prstGeom prst="ellipse">
            <a:avLst/>
          </a:prstGeom>
          <a:solidFill>
            <a:srgbClr val="E4F7F6"/>
          </a:solidFill>
          <a:ln w="12700">
            <a:solidFill>
              <a:srgbClr val="0FB5AE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10378440" y="50017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000" dirty="0"/>
          </a:p>
        </p:txBody>
      </p:sp>
      <p:sp>
        <p:nvSpPr>
          <p:cNvPr id="39" name="Text 34"/>
          <p:cNvSpPr/>
          <p:nvPr/>
        </p:nvSpPr>
        <p:spPr>
          <a:xfrm>
            <a:off x="1143000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40" name="Text 35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SCAN-X · MMMUT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2494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 Path Generation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findings are automatically chained into step-by-step attack paths, each scored 0-100 by severity, chain length and confidence.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331720" cy="1051560"/>
          </a:xfrm>
          <a:prstGeom prst="roundRect">
            <a:avLst>
              <a:gd name="adj" fmla="val 8696"/>
            </a:avLst>
          </a:prstGeom>
          <a:solidFill>
            <a:srgbClr val="F4F7F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331720"/>
            <a:ext cx="2057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Leak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(GitHub repo)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07792" y="2729484"/>
            <a:ext cx="329184" cy="256032"/>
          </a:xfrm>
          <a:prstGeom prst="rightArrow">
            <a:avLst/>
          </a:prstGeom>
          <a:solidFill>
            <a:srgbClr val="0FB5AE"/>
          </a:solidFill>
          <a:ln/>
        </p:spPr>
      </p:sp>
      <p:sp>
        <p:nvSpPr>
          <p:cNvPr id="8" name="Shape 6"/>
          <p:cNvSpPr/>
          <p:nvPr/>
        </p:nvSpPr>
        <p:spPr>
          <a:xfrm>
            <a:off x="3264408" y="2331720"/>
            <a:ext cx="2331720" cy="1051560"/>
          </a:xfrm>
          <a:prstGeom prst="roundRect">
            <a:avLst>
              <a:gd name="adj" fmla="val 8696"/>
            </a:avLst>
          </a:prstGeom>
          <a:solidFill>
            <a:srgbClr val="F4F7FA"/>
          </a:solidFill>
          <a:ln/>
        </p:spPr>
      </p:sp>
      <p:sp>
        <p:nvSpPr>
          <p:cNvPr id="9" name="Text 7"/>
          <p:cNvSpPr/>
          <p:nvPr/>
        </p:nvSpPr>
        <p:spPr>
          <a:xfrm>
            <a:off x="3401568" y="2331720"/>
            <a:ext cx="2057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Stolen API Key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23560" y="2729484"/>
            <a:ext cx="329184" cy="256032"/>
          </a:xfrm>
          <a:prstGeom prst="rightArrow">
            <a:avLst/>
          </a:prstGeom>
          <a:solidFill>
            <a:srgbClr val="0FB5AE"/>
          </a:solidFill>
          <a:ln/>
        </p:spPr>
      </p:sp>
      <p:sp>
        <p:nvSpPr>
          <p:cNvPr id="11" name="Shape 9"/>
          <p:cNvSpPr/>
          <p:nvPr/>
        </p:nvSpPr>
        <p:spPr>
          <a:xfrm>
            <a:off x="5980176" y="2331720"/>
            <a:ext cx="2331720" cy="1051560"/>
          </a:xfrm>
          <a:prstGeom prst="roundRect">
            <a:avLst>
              <a:gd name="adj" fmla="val 8696"/>
            </a:avLst>
          </a:prstGeom>
          <a:solidFill>
            <a:srgbClr val="F4F7FA"/>
          </a:solidFill>
          <a:ln/>
        </p:spPr>
      </p:sp>
      <p:sp>
        <p:nvSpPr>
          <p:cNvPr id="12" name="Text 10"/>
          <p:cNvSpPr/>
          <p:nvPr/>
        </p:nvSpPr>
        <p:spPr>
          <a:xfrm>
            <a:off x="6117336" y="2331720"/>
            <a:ext cx="2057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Bypass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(Login endpoint)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339328" y="2729484"/>
            <a:ext cx="329184" cy="256032"/>
          </a:xfrm>
          <a:prstGeom prst="rightArrow">
            <a:avLst/>
          </a:prstGeom>
          <a:solidFill>
            <a:srgbClr val="0FB5AE"/>
          </a:solidFill>
          <a:ln/>
        </p:spPr>
      </p:sp>
      <p:sp>
        <p:nvSpPr>
          <p:cNvPr id="14" name="Shape 12"/>
          <p:cNvSpPr/>
          <p:nvPr/>
        </p:nvSpPr>
        <p:spPr>
          <a:xfrm>
            <a:off x="8695944" y="2331720"/>
            <a:ext cx="2331720" cy="1051560"/>
          </a:xfrm>
          <a:prstGeom prst="roundRect">
            <a:avLst>
              <a:gd name="adj" fmla="val 8696"/>
            </a:avLst>
          </a:prstGeom>
          <a:solidFill>
            <a:srgbClr val="132A4C"/>
          </a:solidFill>
          <a:ln/>
        </p:spPr>
      </p:sp>
      <p:sp>
        <p:nvSpPr>
          <p:cNvPr id="15" name="Text 13"/>
          <p:cNvSpPr/>
          <p:nvPr/>
        </p:nvSpPr>
        <p:spPr>
          <a:xfrm>
            <a:off x="8833104" y="2331720"/>
            <a:ext cx="2057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Endpoint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738360" y="224028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E4F7F6"/>
          </a:solidFill>
          <a:ln w="12700">
            <a:solidFill>
              <a:srgbClr val="0FB5A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38360" y="22402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87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97764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F4F7FA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4206240"/>
            <a:ext cx="502920" cy="502920"/>
          </a:xfrm>
          <a:prstGeom prst="ellipse">
            <a:avLst/>
          </a:prstGeom>
          <a:solidFill>
            <a:srgbClr val="0FB5AE"/>
          </a:solidFill>
          <a:ln/>
        </p:spPr>
      </p:sp>
      <p:pic>
        <p:nvPicPr>
          <p:cNvPr id="20" name="Image 0" descr="icons/merg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4325112"/>
            <a:ext cx="265176" cy="26517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77240" y="484632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Bypass Chains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777240" y="516636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theft on login endpoints leading to protected endpoint access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206240" y="397764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F4F7FA"/>
          </a:solidFill>
          <a:ln/>
        </p:spPr>
      </p:sp>
      <p:sp>
        <p:nvSpPr>
          <p:cNvPr id="24" name="Shape 21"/>
          <p:cNvSpPr/>
          <p:nvPr/>
        </p:nvSpPr>
        <p:spPr>
          <a:xfrm>
            <a:off x="4434840" y="4206240"/>
            <a:ext cx="502920" cy="502920"/>
          </a:xfrm>
          <a:prstGeom prst="ellipse">
            <a:avLst/>
          </a:prstGeom>
          <a:solidFill>
            <a:srgbClr val="0FB5AE"/>
          </a:solidFill>
          <a:ln/>
        </p:spPr>
      </p:sp>
      <p:pic>
        <p:nvPicPr>
          <p:cNvPr id="25" name="Image 1" descr="icons/targe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3712" y="4325112"/>
            <a:ext cx="265176" cy="265176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4434840" y="484632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Chains</a:t>
            </a:r>
            <a:endParaRPr lang="en-US" sz="1250" dirty="0"/>
          </a:p>
        </p:txBody>
      </p:sp>
      <p:sp>
        <p:nvSpPr>
          <p:cNvPr id="27" name="Text 23"/>
          <p:cNvSpPr/>
          <p:nvPr/>
        </p:nvSpPr>
        <p:spPr>
          <a:xfrm>
            <a:off x="4434840" y="516636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SSRF into internal endpoints; leaked secrets into live API access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7863840" y="397764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F4F7FA"/>
          </a:solidFill>
          <a:ln/>
        </p:spPr>
      </p:sp>
      <p:sp>
        <p:nvSpPr>
          <p:cNvPr id="29" name="Shape 25"/>
          <p:cNvSpPr/>
          <p:nvPr/>
        </p:nvSpPr>
        <p:spPr>
          <a:xfrm>
            <a:off x="8092440" y="4206240"/>
            <a:ext cx="502920" cy="502920"/>
          </a:xfrm>
          <a:prstGeom prst="ellipse">
            <a:avLst/>
          </a:prstGeom>
          <a:solidFill>
            <a:srgbClr val="0FB5AE"/>
          </a:solidFill>
          <a:ln/>
        </p:spPr>
      </p:sp>
      <p:pic>
        <p:nvPicPr>
          <p:cNvPr id="30" name="Image 2" descr="icons/aler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1312" y="4325112"/>
            <a:ext cx="265176" cy="265176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8092440" y="484632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High-Risk</a:t>
            </a:r>
            <a:endParaRPr lang="en-US" sz="1250" dirty="0"/>
          </a:p>
        </p:txBody>
      </p:sp>
      <p:sp>
        <p:nvSpPr>
          <p:cNvPr id="32" name="Text 27"/>
          <p:cNvSpPr/>
          <p:nvPr/>
        </p:nvSpPr>
        <p:spPr>
          <a:xfrm>
            <a:off x="8092440" y="516636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critical/high severity findings paired with exploit suggestions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1143000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SCAN-X · MMMUT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99516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Workflow &amp;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4F7F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32A4C"/>
          </a:solidFill>
          <a:ln/>
        </p:spPr>
      </p:sp>
      <p:pic>
        <p:nvPicPr>
          <p:cNvPr id="6" name="Image 0" descr="icons/sear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947672"/>
            <a:ext cx="26517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468880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Recon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2770632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URL only — runs the deep crawler and fingerprinting engine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06240" y="160020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4F7FA"/>
          </a:solidFill>
          <a:ln/>
        </p:spPr>
      </p:sp>
      <p:sp>
        <p:nvSpPr>
          <p:cNvPr id="10" name="Shape 7"/>
          <p:cNvSpPr/>
          <p:nvPr/>
        </p:nvSpPr>
        <p:spPr>
          <a:xfrm>
            <a:off x="4434840" y="1828800"/>
            <a:ext cx="502920" cy="502920"/>
          </a:xfrm>
          <a:prstGeom prst="ellipse">
            <a:avLst/>
          </a:prstGeom>
          <a:solidFill>
            <a:srgbClr val="132A4C"/>
          </a:solidFill>
          <a:ln/>
        </p:spPr>
      </p:sp>
      <p:pic>
        <p:nvPicPr>
          <p:cNvPr id="11" name="Image 1" descr="icons/githu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3712" y="1947672"/>
            <a:ext cx="265176" cy="2651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34840" y="2468880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Scan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434840" y="2770632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 URL only — runs the security rule analysis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863840" y="160020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4F7FA"/>
          </a:solidFill>
          <a:ln/>
        </p:spPr>
      </p:sp>
      <p:sp>
        <p:nvSpPr>
          <p:cNvPr id="15" name="Shape 11"/>
          <p:cNvSpPr/>
          <p:nvPr/>
        </p:nvSpPr>
        <p:spPr>
          <a:xfrm>
            <a:off x="8092440" y="1828800"/>
            <a:ext cx="502920" cy="502920"/>
          </a:xfrm>
          <a:prstGeom prst="ellipse">
            <a:avLst/>
          </a:prstGeom>
          <a:solidFill>
            <a:srgbClr val="132A4C"/>
          </a:solidFill>
          <a:ln/>
        </p:spPr>
      </p:sp>
      <p:pic>
        <p:nvPicPr>
          <p:cNvPr id="16" name="Image 2" descr="icons/merg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1312" y="1947672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92440" y="2468880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Assessment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092440" y="2770632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+ repo — crawler, analyzer, correlation and attack paths, end to end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611880"/>
            <a:ext cx="10469880" cy="2331720"/>
          </a:xfrm>
          <a:prstGeom prst="roundRect">
            <a:avLst>
              <a:gd name="adj" fmla="val 4706"/>
            </a:avLst>
          </a:prstGeom>
          <a:solidFill>
            <a:srgbClr val="132A4C"/>
          </a:solidFill>
          <a:ln/>
        </p:spPr>
      </p:sp>
      <p:sp>
        <p:nvSpPr>
          <p:cNvPr id="20" name="Text 15"/>
          <p:cNvSpPr/>
          <p:nvPr/>
        </p:nvSpPr>
        <p:spPr>
          <a:xfrm>
            <a:off x="868680" y="3840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Glassmorphism UI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868680" y="4343400"/>
            <a:ext cx="384048" cy="384048"/>
          </a:xfrm>
          <a:prstGeom prst="ellipse">
            <a:avLst/>
          </a:prstGeom>
          <a:solidFill>
            <a:srgbClr val="0FB5AE"/>
          </a:solidFill>
          <a:ln/>
        </p:spPr>
      </p:sp>
      <p:pic>
        <p:nvPicPr>
          <p:cNvPr id="22" name="Image 3" descr="icons/grid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" y="4425696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68680" y="48280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868680" y="510235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B7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section with feature cards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3474720" y="4343400"/>
            <a:ext cx="384048" cy="384048"/>
          </a:xfrm>
          <a:prstGeom prst="ellipse">
            <a:avLst/>
          </a:prstGeom>
          <a:solidFill>
            <a:srgbClr val="0FB5AE"/>
          </a:solidFill>
          <a:ln/>
        </p:spPr>
      </p:sp>
      <p:pic>
        <p:nvPicPr>
          <p:cNvPr id="26" name="Image 4" descr="icons/grid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7016" y="4425696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474720" y="48280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3474720" y="510235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B7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cards, pie charts and bar charts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6080760" y="4343400"/>
            <a:ext cx="384048" cy="384048"/>
          </a:xfrm>
          <a:prstGeom prst="ellipse">
            <a:avLst/>
          </a:prstGeom>
          <a:solidFill>
            <a:srgbClr val="0FB5AE"/>
          </a:solidFill>
          <a:ln/>
        </p:spPr>
      </p:sp>
      <p:pic>
        <p:nvPicPr>
          <p:cNvPr id="30" name="Image 5" descr="icons/grid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3056" y="4425696"/>
            <a:ext cx="219456" cy="21945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080760" y="48280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Wizard</a:t>
            </a:r>
            <a:endParaRPr lang="en-US" sz="1150" dirty="0"/>
          </a:p>
        </p:txBody>
      </p:sp>
      <p:sp>
        <p:nvSpPr>
          <p:cNvPr id="32" name="Text 24"/>
          <p:cNvSpPr/>
          <p:nvPr/>
        </p:nvSpPr>
        <p:spPr>
          <a:xfrm>
            <a:off x="6080760" y="510235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B7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selection, config, live progress, results view</a:t>
            </a:r>
            <a:endParaRPr lang="en-US" sz="950" dirty="0"/>
          </a:p>
        </p:txBody>
      </p:sp>
      <p:sp>
        <p:nvSpPr>
          <p:cNvPr id="33" name="Shape 25"/>
          <p:cNvSpPr/>
          <p:nvPr/>
        </p:nvSpPr>
        <p:spPr>
          <a:xfrm>
            <a:off x="8686800" y="4343400"/>
            <a:ext cx="384048" cy="384048"/>
          </a:xfrm>
          <a:prstGeom prst="ellipse">
            <a:avLst/>
          </a:prstGeom>
          <a:solidFill>
            <a:srgbClr val="0FB5AE"/>
          </a:solidFill>
          <a:ln/>
        </p:spPr>
      </p:sp>
      <p:pic>
        <p:nvPicPr>
          <p:cNvPr id="34" name="Image 6" descr="icons/grid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9096" y="4425696"/>
            <a:ext cx="219456" cy="219456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8686800" y="48280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Surface Tree</a:t>
            </a:r>
            <a:endParaRPr lang="en-US" sz="1150" dirty="0"/>
          </a:p>
        </p:txBody>
      </p:sp>
      <p:sp>
        <p:nvSpPr>
          <p:cNvPr id="36" name="Text 27"/>
          <p:cNvSpPr/>
          <p:nvPr/>
        </p:nvSpPr>
        <p:spPr>
          <a:xfrm>
            <a:off x="8686800" y="510235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B7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grouped with linked source files &amp; findings</a:t>
            </a:r>
            <a:endParaRPr lang="en-US" sz="950" dirty="0"/>
          </a:p>
        </p:txBody>
      </p:sp>
      <p:sp>
        <p:nvSpPr>
          <p:cNvPr id="37" name="Text 28"/>
          <p:cNvSpPr/>
          <p:nvPr/>
        </p:nvSpPr>
        <p:spPr>
          <a:xfrm>
            <a:off x="1143000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38" name="Text 29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SCAN-X · MMMUT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51581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4F7F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56232"/>
            <a:ext cx="502920" cy="502920"/>
          </a:xfrm>
          <a:prstGeom prst="ellipse">
            <a:avLst/>
          </a:prstGeom>
          <a:solidFill>
            <a:srgbClr val="132A4C"/>
          </a:solidFill>
          <a:ln/>
        </p:spPr>
      </p:sp>
      <p:pic>
        <p:nvPicPr>
          <p:cNvPr id="6" name="Image 0" descr="icons/lay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975104"/>
            <a:ext cx="26517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5623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246888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3.13 · FastAPI · SQLAlchemy · SQLite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17920" y="160020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4F7FA"/>
          </a:solidFill>
          <a:ln/>
        </p:spPr>
      </p:sp>
      <p:sp>
        <p:nvSpPr>
          <p:cNvPr id="10" name="Shape 7"/>
          <p:cNvSpPr/>
          <p:nvPr/>
        </p:nvSpPr>
        <p:spPr>
          <a:xfrm>
            <a:off x="6446520" y="1856232"/>
            <a:ext cx="502920" cy="502920"/>
          </a:xfrm>
          <a:prstGeom prst="ellipse">
            <a:avLst/>
          </a:prstGeom>
          <a:solidFill>
            <a:srgbClr val="132A4C"/>
          </a:solidFill>
          <a:ln/>
        </p:spPr>
      </p:sp>
      <p:pic>
        <p:nvPicPr>
          <p:cNvPr id="11" name="Image 1" descr="icons/gri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1975104"/>
            <a:ext cx="265176" cy="2651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85623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446520" y="246888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· Vite 6 · React Router 6 · Recharts · Lucide Icons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20040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4F7FA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3456432"/>
            <a:ext cx="502920" cy="502920"/>
          </a:xfrm>
          <a:prstGeom prst="ellipse">
            <a:avLst/>
          </a:prstGeom>
          <a:solidFill>
            <a:srgbClr val="132A4C"/>
          </a:solidFill>
          <a:ln/>
        </p:spPr>
      </p:sp>
      <p:pic>
        <p:nvPicPr>
          <p:cNvPr id="16" name="Image 2" descr="icons/github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3575304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45643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Integration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777240" y="406908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REST API with git clone fallback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217920" y="320040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4F7FA"/>
          </a:solidFill>
          <a:ln/>
        </p:spPr>
      </p:sp>
      <p:sp>
        <p:nvSpPr>
          <p:cNvPr id="20" name="Shape 15"/>
          <p:cNvSpPr/>
          <p:nvPr/>
        </p:nvSpPr>
        <p:spPr>
          <a:xfrm>
            <a:off x="6446520" y="3456432"/>
            <a:ext cx="502920" cy="502920"/>
          </a:xfrm>
          <a:prstGeom prst="ellipse">
            <a:avLst/>
          </a:prstGeom>
          <a:solidFill>
            <a:srgbClr val="132A4C"/>
          </a:solidFill>
          <a:ln/>
        </p:spPr>
      </p:sp>
      <p:pic>
        <p:nvPicPr>
          <p:cNvPr id="21" name="Image 3" descr="icons/search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5392" y="3575304"/>
            <a:ext cx="265176" cy="26517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345643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446520" y="406908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Pattern-based regex rule engine · BFS crawling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480060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4F7FA"/>
          </a:solidFill>
          <a:ln/>
        </p:spPr>
      </p:sp>
      <p:sp>
        <p:nvSpPr>
          <p:cNvPr id="25" name="Shape 19"/>
          <p:cNvSpPr/>
          <p:nvPr/>
        </p:nvSpPr>
        <p:spPr>
          <a:xfrm>
            <a:off x="777240" y="5056632"/>
            <a:ext cx="502920" cy="502920"/>
          </a:xfrm>
          <a:prstGeom prst="ellipse">
            <a:avLst/>
          </a:prstGeom>
          <a:solidFill>
            <a:srgbClr val="132A4C"/>
          </a:solidFill>
          <a:ln/>
        </p:spPr>
      </p:sp>
      <p:pic>
        <p:nvPicPr>
          <p:cNvPr id="26" name="Image 4" descr="icons/merg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112" y="5175504"/>
            <a:ext cx="265176" cy="26517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63040" y="505663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777240" y="566928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scoring engine, framework-aware route matching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217920" y="480060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4F7FA"/>
          </a:solidFill>
          <a:ln/>
        </p:spPr>
      </p:sp>
      <p:sp>
        <p:nvSpPr>
          <p:cNvPr id="30" name="Shape 23"/>
          <p:cNvSpPr/>
          <p:nvPr/>
        </p:nvSpPr>
        <p:spPr>
          <a:xfrm>
            <a:off x="6446520" y="5056632"/>
            <a:ext cx="502920" cy="502920"/>
          </a:xfrm>
          <a:prstGeom prst="ellipse">
            <a:avLst/>
          </a:prstGeom>
          <a:solidFill>
            <a:srgbClr val="132A4C"/>
          </a:solidFill>
          <a:ln/>
        </p:spPr>
      </p:sp>
      <p:pic>
        <p:nvPicPr>
          <p:cNvPr id="31" name="Image 5" descr="icons/target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5392" y="5175504"/>
            <a:ext cx="265176" cy="26517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132320" y="505663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Paths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6446520" y="566928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vulnerability chaining with risk scoring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1143000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SCAN-X · MMMUT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086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4434840"/>
          </a:xfrm>
          <a:prstGeom prst="roundRect">
            <a:avLst>
              <a:gd name="adj" fmla="val 2474"/>
            </a:avLst>
          </a:prstGeom>
          <a:solidFill>
            <a:srgbClr val="132A4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640080" cy="640080"/>
          </a:xfrm>
          <a:prstGeom prst="ellipse">
            <a:avLst/>
          </a:prstGeom>
          <a:solidFill>
            <a:srgbClr val="0FB5AE"/>
          </a:solidFill>
          <a:ln/>
        </p:spPr>
      </p:sp>
      <p:pic>
        <p:nvPicPr>
          <p:cNvPr id="6" name="Image 0" descr="icons/flag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0574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697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Scan-X Delivers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68680" y="3246120"/>
            <a:ext cx="91440" cy="91440"/>
          </a:xfrm>
          <a:prstGeom prst="ellipse">
            <a:avLst/>
          </a:prstGeom>
          <a:solidFill>
            <a:srgbClr val="0FB5AE"/>
          </a:solidFill>
          <a:ln/>
        </p:spPr>
      </p:sp>
      <p:sp>
        <p:nvSpPr>
          <p:cNvPr id="9" name="Text 6"/>
          <p:cNvSpPr/>
          <p:nvPr/>
        </p:nvSpPr>
        <p:spPr>
          <a:xfrm>
            <a:off x="1097280" y="310896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workflow across recon and source code, instead of two disconnected tools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68680" y="3904488"/>
            <a:ext cx="91440" cy="91440"/>
          </a:xfrm>
          <a:prstGeom prst="ellipse">
            <a:avLst/>
          </a:prstGeom>
          <a:solidFill>
            <a:srgbClr val="0FB5AE"/>
          </a:solidFill>
          <a:ln/>
        </p:spPr>
      </p:sp>
      <p:sp>
        <p:nvSpPr>
          <p:cNvPr id="11" name="Text 8"/>
          <p:cNvSpPr/>
          <p:nvPr/>
        </p:nvSpPr>
        <p:spPr>
          <a:xfrm>
            <a:off x="1097280" y="3767328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Automated, evidence-backed correlation between endpoints and code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68680" y="4562856"/>
            <a:ext cx="91440" cy="91440"/>
          </a:xfrm>
          <a:prstGeom prst="ellipse">
            <a:avLst/>
          </a:prstGeom>
          <a:solidFill>
            <a:srgbClr val="0FB5AE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4425696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Risk-ranked, chainable attack paths — not just a flat findings list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68680" y="5221224"/>
            <a:ext cx="91440" cy="91440"/>
          </a:xfrm>
          <a:prstGeom prst="ellipse">
            <a:avLst/>
          </a:prstGeom>
          <a:solidFill>
            <a:srgbClr val="0FB5AE"/>
          </a:solidFill>
          <a:ln/>
        </p:spPr>
      </p:sp>
      <p:sp>
        <p:nvSpPr>
          <p:cNvPr id="15" name="Text 12"/>
          <p:cNvSpPr/>
          <p:nvPr/>
        </p:nvSpPr>
        <p:spPr>
          <a:xfrm>
            <a:off x="1097280" y="5084064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HTML reports for both engineers and reviewers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035040" y="1600200"/>
            <a:ext cx="5577840" cy="4434840"/>
          </a:xfrm>
          <a:prstGeom prst="roundRect">
            <a:avLst>
              <a:gd name="adj" fmla="val 2474"/>
            </a:avLst>
          </a:prstGeom>
          <a:solidFill>
            <a:srgbClr val="F4F7FA"/>
          </a:solidFill>
          <a:ln/>
        </p:spPr>
      </p:sp>
      <p:sp>
        <p:nvSpPr>
          <p:cNvPr id="17" name="Shape 14"/>
          <p:cNvSpPr/>
          <p:nvPr/>
        </p:nvSpPr>
        <p:spPr>
          <a:xfrm>
            <a:off x="6355080" y="1920240"/>
            <a:ext cx="640080" cy="640080"/>
          </a:xfrm>
          <a:prstGeom prst="ellipse">
            <a:avLst/>
          </a:prstGeom>
          <a:solidFill>
            <a:srgbClr val="132A4C"/>
          </a:solidFill>
          <a:ln/>
        </p:spPr>
      </p:sp>
      <p:pic>
        <p:nvPicPr>
          <p:cNvPr id="18" name="Image 1" descr="icons/activity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057400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355080" y="2697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700" dirty="0"/>
          </a:p>
        </p:txBody>
      </p:sp>
      <p:sp>
        <p:nvSpPr>
          <p:cNvPr id="20" name="Shape 16"/>
          <p:cNvSpPr/>
          <p:nvPr/>
        </p:nvSpPr>
        <p:spPr>
          <a:xfrm>
            <a:off x="6355080" y="3246120"/>
            <a:ext cx="91440" cy="91440"/>
          </a:xfrm>
          <a:prstGeom prst="ellipse">
            <a:avLst/>
          </a:prstGeom>
          <a:solidFill>
            <a:srgbClr val="0FB5AE"/>
          </a:solidFill>
          <a:ln/>
        </p:spPr>
      </p:sp>
      <p:sp>
        <p:nvSpPr>
          <p:cNvPr id="21" name="Text 17"/>
          <p:cNvSpPr/>
          <p:nvPr/>
        </p:nvSpPr>
        <p:spPr>
          <a:xfrm>
            <a:off x="6583680" y="31089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crawling for logged-in application states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6355080" y="3904488"/>
            <a:ext cx="91440" cy="91440"/>
          </a:xfrm>
          <a:prstGeom prst="ellipse">
            <a:avLst/>
          </a:prstGeom>
          <a:solidFill>
            <a:srgbClr val="0FB5AE"/>
          </a:solidFill>
          <a:ln/>
        </p:spPr>
      </p:sp>
      <p:sp>
        <p:nvSpPr>
          <p:cNvPr id="23" name="Text 19"/>
          <p:cNvSpPr/>
          <p:nvPr/>
        </p:nvSpPr>
        <p:spPr>
          <a:xfrm>
            <a:off x="6583680" y="376732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for GitLab and Bitbucket repositories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6355080" y="4562856"/>
            <a:ext cx="91440" cy="91440"/>
          </a:xfrm>
          <a:prstGeom prst="ellipse">
            <a:avLst/>
          </a:prstGeom>
          <a:solidFill>
            <a:srgbClr val="0FB5AE"/>
          </a:solidFill>
          <a:ln/>
        </p:spPr>
      </p:sp>
      <p:sp>
        <p:nvSpPr>
          <p:cNvPr id="25" name="Text 21"/>
          <p:cNvSpPr/>
          <p:nvPr/>
        </p:nvSpPr>
        <p:spPr>
          <a:xfrm>
            <a:off x="6583680" y="4425696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few </a:t>
            </a:r>
            <a:r>
              <a:rPr lang="en-US" sz="115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crawlers and tools [MCP]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6355080" y="5221224"/>
            <a:ext cx="91440" cy="91440"/>
          </a:xfrm>
          <a:prstGeom prst="ellipse">
            <a:avLst/>
          </a:prstGeom>
          <a:solidFill>
            <a:srgbClr val="0FB5AE"/>
          </a:solidFill>
          <a:ln/>
        </p:spPr>
      </p:sp>
      <p:sp>
        <p:nvSpPr>
          <p:cNvPr id="27" name="Text 23"/>
          <p:cNvSpPr/>
          <p:nvPr/>
        </p:nvSpPr>
        <p:spPr>
          <a:xfrm>
            <a:off x="6583680" y="5084064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ML-assisted false-positive reduction for detection rules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1143000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SCAN-X · MMMUT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itorial">
  <a:themeElements>
    <a:clrScheme name="Editorial">
      <a:dk1>
        <a:sysClr val="windowText" lastClr="000000"/>
      </a:dk1>
      <a:lt1>
        <a:sysClr val="window" lastClr="FFFFFF"/>
      </a:lt1>
      <a:dk2>
        <a:srgbClr val="171717"/>
      </a:dk2>
      <a:lt2>
        <a:srgbClr val="F7F6F3"/>
      </a:lt2>
      <a:accent1>
        <a:srgbClr val="C8350F"/>
      </a:accent1>
      <a:accent2>
        <a:srgbClr val="B6A992"/>
      </a:accent2>
      <a:accent3>
        <a:srgbClr val="D59A6D"/>
      </a:accent3>
      <a:accent4>
        <a:srgbClr val="C7793D"/>
      </a:accent4>
      <a:accent5>
        <a:srgbClr val="DB8464"/>
      </a:accent5>
      <a:accent6>
        <a:srgbClr val="3F7699"/>
      </a:accent6>
      <a:hlink>
        <a:srgbClr val="C8350F"/>
      </a:hlink>
      <a:folHlink>
        <a:srgbClr val="DB8464"/>
      </a:folHlink>
    </a:clrScheme>
    <a:fontScheme name="Custom 22">
      <a:majorFont>
        <a:latin typeface="Haettenschweiler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ditorial" id="{71EC1670-473B-4381-BA1C-B02CC96DD716}" vid="{C5D3EF77-ADD0-40FD-A769-C339DAE739D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Words>962</Words>
  <Application>Microsoft Office PowerPoint</Application>
  <PresentationFormat>Widescreen</PresentationFormat>
  <Paragraphs>198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Arial</vt:lpstr>
      <vt:lpstr>Calibri</vt:lpstr>
      <vt:lpstr>Cambria</vt:lpstr>
      <vt:lpstr>Courier New</vt:lpstr>
      <vt:lpstr>Haettenschweiler</vt:lpstr>
      <vt:lpstr>Trade Gothic Next Light</vt:lpstr>
      <vt:lpstr>Editorial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DHAWAL DEV</cp:lastModifiedBy>
  <cp:revision>5</cp:revision>
  <dcterms:created xsi:type="dcterms:W3CDTF">2026-09-03T05:55:18Z</dcterms:created>
  <dcterms:modified xsi:type="dcterms:W3CDTF">2026-09-08T14:15:21Z</dcterms:modified>
</cp:coreProperties>
</file>